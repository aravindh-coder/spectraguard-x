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 HACKATHON 2026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601200" y="3657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1B4B"/>
                </a:solidFill>
              </a:rPr>
              <a:t>SIH 2026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TITLE PAGE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1247120" cy="0"/>
          </a:xfrm>
          <a:prstGeom prst="line">
            <a:avLst/>
          </a:prstGeom>
          <a:noFill/>
          <a:ln w="254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28800"/>
            <a:ext cx="68580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600" b="1" dirty="0">
                <a:solidFill>
                  <a:srgbClr val="000000"/>
                </a:solidFill>
              </a:rPr>
              <a:t>Problem Statement ID – SIH26233</a:t>
            </a:r>
            <a:pPr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000000"/>
                </a:solidFill>
              </a:rPr>
              <a:t>Problem Statement Title – Inline Microbial Contamination Detection Using Hyperspectral Edge Sensors</a:t>
            </a:r>
            <a:pPr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000000"/>
                </a:solidFill>
              </a:rPr>
              <a:t>Theme – Agriculture, FoodTech &amp; Rural Development</a:t>
            </a:r>
            <a:pPr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000000"/>
                </a:solidFill>
              </a:rPr>
              <a:t>PS Category – Hardware</a:t>
            </a:r>
            <a:pPr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000000"/>
                </a:solidFill>
              </a:rPr>
              <a:t>Team ID – 127059</a:t>
            </a:r>
            <a:pPr indent="0" marL="0">
              <a:lnSpc>
                <a:spcPts val="2800"/>
              </a:lnSpc>
              <a:buNone/>
            </a:pPr>
            <a:r>
              <a:rPr lang="en-US" sz="1600" b="1" dirty="0">
                <a:solidFill>
                  <a:srgbClr val="4338CA"/>
                </a:solidFill>
              </a:rPr>
              <a:t>Team Name – VEYRAX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772400" y="2011680"/>
            <a:ext cx="3657600" cy="38404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0" y="256032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1B4B"/>
                </a:solidFill>
              </a:rPr>
              <a:t>SMART INDIA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E1B4B"/>
                </a:solidFill>
              </a:rPr>
              <a:t>HACKATHON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E1B4B"/>
                </a:solidFill>
              </a:rPr>
              <a:t>2026</a:t>
            </a:r>
            <a:endParaRPr lang="en-US" sz="2200" dirty="0"/>
          </a:p>
          <a:p>
            <a:pPr algn="ctr" indent="0" marL="0">
              <a:buNone/>
            </a:pP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E1B4B"/>
                </a:solidFill>
              </a:rPr>
              <a:t>TEAM VEYRAX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411480"/>
          </a:xfrm>
          <a:prstGeom prst="roundRect">
            <a:avLst/>
          </a:prstGeom>
          <a:solidFill>
            <a:srgbClr val="EEF2FF"/>
          </a:solidFill>
          <a:ln w="25400">
            <a:solidFill>
              <a:srgbClr val="4338C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1B4B"/>
                </a:solidFill>
              </a:rPr>
              <a:t>VEYRAX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103120" y="2286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VEYRAX 2.0 Proposed solution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3474720" cy="146304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0584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Real-world issue:
</a:t>
            </a:r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Microorganisms (Salmonella, E. coli, Aflatoxins) infect food processing lines silently, causing severe foodborne illness outbreaks &amp; recalls.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560320"/>
            <a:ext cx="3474720" cy="146304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65176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Why important:
</a:t>
            </a:r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Traditional 24–48hr lab culturing lets infected batches reach consumer markets; manual spot checks miss patchy contamination.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4206240"/>
            <a:ext cx="3474720" cy="146304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429768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Solution:
</a:t>
            </a:r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VEYRAX fuses 256-band NIR Hyperspectral (900-1700nm), UV 365nm Fluorescence &amp; RGB to detect microbial risk in &lt;10ms and auto-reject item.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89120" y="914400"/>
            <a:ext cx="3291840" cy="731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91440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CORE INNOVATION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Edge AI Node (Jetson Orin)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06240" y="1737360"/>
            <a:ext cx="3657600" cy="82296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14" name="Text 12"/>
          <p:cNvSpPr/>
          <p:nvPr/>
        </p:nvSpPr>
        <p:spPr>
          <a:xfrm>
            <a:off x="4206240" y="173736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PRIMARY FUNCTIONS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Multi-Sensor Fusion • Uncertainty Risk Score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023360" y="2651760"/>
            <a:ext cx="4023360" cy="82296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6" name="Text 14"/>
          <p:cNvSpPr/>
          <p:nvPr/>
        </p:nvSpPr>
        <p:spPr>
          <a:xfrm>
            <a:off x="4023360" y="265176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PROTECTION &amp; RESPONSE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Auto Air-Jet Eject | Buzzer Alarm | SOS SMS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023360" y="3566160"/>
            <a:ext cx="4023360" cy="109728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8" name="Text 16"/>
          <p:cNvSpPr/>
          <p:nvPr/>
        </p:nvSpPr>
        <p:spPr>
          <a:xfrm>
            <a:off x="4023360" y="356616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SENSING &amp; MONITORING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NIR HSI (900-1700nm) | UV 365nm | RGB 4K | ToF 3D | Temp/RH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321040" y="9144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Risk vs Solution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321040" y="1463040"/>
            <a:ext cx="1554480" cy="822960"/>
          </a:xfrm>
          <a:prstGeom prst="roundRect">
            <a:avLst/>
          </a:prstGeom>
          <a:solidFill>
            <a:srgbClr val="DC2626"/>
          </a:solidFill>
          <a:ln/>
        </p:spPr>
      </p:sp>
      <p:sp>
        <p:nvSpPr>
          <p:cNvPr id="21" name="Text 19"/>
          <p:cNvSpPr/>
          <p:nvPr/>
        </p:nvSpPr>
        <p:spPr>
          <a:xfrm>
            <a:off x="8321040" y="146304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Silent Microbial Spoilage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875520" y="1463040"/>
            <a:ext cx="365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</a:rPr>
              <a:t>↔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0241280" y="1463040"/>
            <a:ext cx="1554480" cy="822960"/>
          </a:xfrm>
          <a:prstGeom prst="roundRect">
            <a:avLst/>
          </a:prstGeom>
          <a:solidFill>
            <a:srgbClr val="059669"/>
          </a:solidFill>
          <a:ln/>
        </p:spPr>
      </p:sp>
      <p:sp>
        <p:nvSpPr>
          <p:cNvPr id="24" name="Text 22"/>
          <p:cNvSpPr/>
          <p:nvPr/>
        </p:nvSpPr>
        <p:spPr>
          <a:xfrm>
            <a:off x="10241280" y="146304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Early Spectral Anomaly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321040" y="2468880"/>
            <a:ext cx="1554480" cy="822960"/>
          </a:xfrm>
          <a:prstGeom prst="roundRect">
            <a:avLst/>
          </a:prstGeom>
          <a:solidFill>
            <a:srgbClr val="DC2626"/>
          </a:solidFill>
          <a:ln/>
        </p:spPr>
      </p:sp>
      <p:sp>
        <p:nvSpPr>
          <p:cNvPr id="26" name="Text 24"/>
          <p:cNvSpPr/>
          <p:nvPr/>
        </p:nvSpPr>
        <p:spPr>
          <a:xfrm>
            <a:off x="8321040" y="246888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Batch Recall &amp; Outbreak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875520" y="2468880"/>
            <a:ext cx="365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</a:rPr>
              <a:t>↔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10241280" y="2468880"/>
            <a:ext cx="1554480" cy="822960"/>
          </a:xfrm>
          <a:prstGeom prst="roundRect">
            <a:avLst/>
          </a:prstGeom>
          <a:solidFill>
            <a:srgbClr val="059669"/>
          </a:solidFill>
          <a:ln/>
        </p:spPr>
      </p:sp>
      <p:sp>
        <p:nvSpPr>
          <p:cNvPr id="29" name="Text 27"/>
          <p:cNvSpPr/>
          <p:nvPr/>
        </p:nvSpPr>
        <p:spPr>
          <a:xfrm>
            <a:off x="10241280" y="246888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Auto Pneumatic Eject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321040" y="3474720"/>
            <a:ext cx="1554480" cy="822960"/>
          </a:xfrm>
          <a:prstGeom prst="roundRect">
            <a:avLst/>
          </a:prstGeom>
          <a:solidFill>
            <a:srgbClr val="DC2626"/>
          </a:solidFill>
          <a:ln/>
        </p:spPr>
      </p:sp>
      <p:sp>
        <p:nvSpPr>
          <p:cNvPr id="31" name="Text 29"/>
          <p:cNvSpPr/>
          <p:nvPr/>
        </p:nvSpPr>
        <p:spPr>
          <a:xfrm>
            <a:off x="8321040" y="347472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Late 48-Hour Culturing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875520" y="3474720"/>
            <a:ext cx="365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</a:rPr>
              <a:t>↔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10241280" y="3474720"/>
            <a:ext cx="1554480" cy="822960"/>
          </a:xfrm>
          <a:prstGeom prst="roundRect">
            <a:avLst/>
          </a:prstGeom>
          <a:solidFill>
            <a:srgbClr val="059669"/>
          </a:solidFill>
          <a:ln/>
        </p:spPr>
      </p:sp>
      <p:sp>
        <p:nvSpPr>
          <p:cNvPr id="34" name="Text 32"/>
          <p:cNvSpPr/>
          <p:nvPr/>
        </p:nvSpPr>
        <p:spPr>
          <a:xfrm>
            <a:off x="10241280" y="347472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Live SCADA Twin &amp; SOS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389120" y="4846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338CA"/>
                </a:solidFill>
              </a:rPr>
              <a:t>https://github.com/Aravindh-coder/spectraguard-x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411480"/>
          </a:xfrm>
          <a:prstGeom prst="roundRect">
            <a:avLst/>
          </a:prstGeom>
          <a:solidFill>
            <a:srgbClr val="EEF2FF"/>
          </a:solidFill>
          <a:ln w="25400">
            <a:solidFill>
              <a:srgbClr val="4338C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1B4B"/>
                </a:solidFill>
              </a:rPr>
              <a:t>VEYRAX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103120" y="2286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TECHNICAL APPROACH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</a:rPr>
              <a:t>METHODOLOGY &amp; PROCESS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657600" cy="6400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7160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1. Sense &amp; Collect: NIR (900-1700nm), UV 365nm, RGB camera &amp; ToF topography.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3657600" cy="6400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10312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2. Edge Transmit: ESP32 streams telemetry packets over Wi-Fi / MQTT / OPC-UA.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3657600" cy="6400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8346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3. Edge AI Fusion: Jetson Orin fuses 1D spectral + 2D spatial features into risk tensor.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3566160"/>
            <a:ext cx="3657600" cy="6400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5661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4. Decide &amp; Protect: Dual AI + Physics engine triggers pneumatic air-jet ejection.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4297680"/>
            <a:ext cx="3657600" cy="6400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2976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5. Monitor &amp; Learn: Live Digital Twin canvas, batch fingerprinting &amp; active learning.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5029200"/>
            <a:ext cx="3657600" cy="6400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502920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6. Traceability QR: Digital QR passports, signed SHA-256 compliance reports.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389120" y="914400"/>
            <a:ext cx="4023360" cy="201168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80560" y="100584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8350F"/>
                </a:solidFill>
              </a:rPr>
              <a:t>HARDWARE: SENSE &gt; PROCESS &gt; PROTECT</a:t>
            </a:r>
            <a:endParaRPr lang="en-US" sz="1000" dirty="0"/>
          </a:p>
          <a:p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78350F"/>
                </a:solidFill>
              </a:rPr>
              <a:t>5 Sensors + RGB Camera ➔ ESP32 ➔ Jetson Edge AI ➔ Pneumatic Air Jet Relay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89120" y="3108960"/>
            <a:ext cx="4023360" cy="256032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4338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0560" y="3200400"/>
            <a:ext cx="3840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1B4B"/>
                </a:solidFill>
              </a:rPr>
              <a:t>SOFTWARE: BACKEND &gt; RISK ENGINE &gt; DASHBOARD</a:t>
            </a:r>
            <a:endParaRPr lang="en-US" sz="1000" dirty="0"/>
          </a:p>
          <a:p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1B4B"/>
                </a:solidFill>
              </a:rPr>
              <a:t>ESP32 + Edge Node ➔ JSON (&lt;10ms) ➔ React SCADA Digital Twin Dashboard</a:t>
            </a:r>
            <a:endParaRPr lang="en-US" sz="1000" dirty="0"/>
          </a:p>
          <a:p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1B4B"/>
                </a:solidFill>
              </a:rPr>
              <a:t>• Dual AI + Physics Safety: Overrides AI to ISOLATE if reference white tile drift &gt;5% or window lens is dirty.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686800" y="9144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TECHNOLOGIES USED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686800" y="1371600"/>
            <a:ext cx="3200400" cy="1188720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24" name="Text 22"/>
          <p:cNvSpPr/>
          <p:nvPr/>
        </p:nvSpPr>
        <p:spPr>
          <a:xfrm>
            <a:off x="8778240" y="146304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Frontend:
</a:t>
            </a:r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</a:rPr>
              <a:t>React 18 + Vite + TypeScript + Tailwind CSS; Recharts &amp; Canvas SCADA twin.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686800" y="2743200"/>
            <a:ext cx="3200400" cy="1188720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26" name="Text 24"/>
          <p:cNvSpPr/>
          <p:nvPr/>
        </p:nvSpPr>
        <p:spPr>
          <a:xfrm>
            <a:off x="8778240" y="283464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Backend:
</a:t>
            </a:r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</a:rPr>
              <a:t>Node.js + Express + Socket.IO real-time stream &amp; risk engine.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686800" y="4114800"/>
            <a:ext cx="3200400" cy="1188720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28" name="Text 26"/>
          <p:cNvSpPr/>
          <p:nvPr/>
        </p:nvSpPr>
        <p:spPr>
          <a:xfrm>
            <a:off x="8778240" y="420624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Hardware &amp; Edge AI:
</a:t>
            </a:r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</a:rPr>
              <a:t>Jetson Orin, ESP32, NIR HSI, UV-A 365nm, ToF 3D sensor, pneumatic relay.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411480"/>
          </a:xfrm>
          <a:prstGeom prst="roundRect">
            <a:avLst/>
          </a:prstGeom>
          <a:solidFill>
            <a:srgbClr val="EEF2FF"/>
          </a:solidFill>
          <a:ln w="25400">
            <a:solidFill>
              <a:srgbClr val="4338C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1B4B"/>
                </a:solidFill>
              </a:rPr>
              <a:t>VEYRAX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103120" y="2286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FEASIBILITY AND VIABILITY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3566160" cy="49377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058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FEASIBILITY ANALYSIS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338328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• Technological: Off-the-shelf edge sensors &amp; AI. Retrofit-ready conveyor clip.
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• Economic: $250-$400 prototype cost vs $50,000 lab hyperspectral cameras.
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• Operational: Inline plug-and-play installation with zero line downtime.
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• Scalability: Deployable across grain mills, dairy, fruit sorters, &amp; meat plants.
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206240" y="914400"/>
            <a:ext cx="3566160" cy="49377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0" y="10058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CHALLENGES AND RISKS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0" y="1463040"/>
            <a:ext cx="338328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• Harsh Environment: Steam, flour dust, humidity &amp; oil splash affect optics.
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• Data Imbalance: Novel or rare microbial mutations missing in training data.
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• Connectivity Loss: Unstable factory Wi-Fi delaying cloud alerts.
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• False Positives: Surface dust specks causing unnecessary food waste.
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• Safety Failures: Ejection failure leading to food poisoning outbreak.
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955280" y="914400"/>
            <a:ext cx="3566160" cy="493776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0" y="10058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STRATEGIES FOR OVERCOMING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046720" y="1463040"/>
            <a:ext cx="338328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• Ruggedized Enclosure: IP65 sealed chassis + pneumatic optical air-knife.
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• Open-Set AI: Mahalanobis distance flags unknown microbes as UNKNOWN ANOMALY.
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• Offline-First Edge: Direct microsecond hardware relay trigger sub-10ms.
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• AI + Physics Safety: White tile self-calibration overrides AI if drift occurs.
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• Closed-Loop Confirmation: Post-eject optical sensor verifies isolation.
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411480"/>
          </a:xfrm>
          <a:prstGeom prst="roundRect">
            <a:avLst/>
          </a:prstGeom>
          <a:solidFill>
            <a:srgbClr val="EEF2FF"/>
          </a:solidFill>
          <a:ln w="25400">
            <a:solidFill>
              <a:srgbClr val="4338C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1B4B"/>
                </a:solidFill>
              </a:rPr>
              <a:t>VEYRAX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103120" y="2286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IMPACT AND BENEFITS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5486400" cy="38404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KEY BENEFITS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463040"/>
            <a:ext cx="512064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508760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338CA"/>
                </a:solidFill>
              </a:rPr>
              <a:t>Enhanced Food Safety: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Real-time non-destructive microbial scanning protects consumers from Salmonella &amp; E. coli outbreaks.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240280"/>
            <a:ext cx="512064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286000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338CA"/>
                </a:solidFill>
              </a:rPr>
              <a:t>Zero Line Downtime: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Instant inline &lt;10ms decisioning eliminates 24-48hr lab incubation delays.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3017520"/>
            <a:ext cx="512064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063240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338CA"/>
                </a:solidFill>
              </a:rPr>
              <a:t>Cost Savings: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Prevents multi-million dollar product recalls, brand damage, &amp; regulatory fines.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3794760"/>
            <a:ext cx="512064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840480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338CA"/>
                </a:solidFill>
              </a:rPr>
              <a:t>Sustainability: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Eliminates food waste by isolating only specific contaminated items.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17920" y="9144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IMPACT ON TARGET AUDIENCE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1371600"/>
            <a:ext cx="5303520" cy="914400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146304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Food Processors &amp; MSMEs:
</a:t>
            </a:r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</a:rPr>
              <a:t>Higher throughput, zero recall risk, 100% inspection compliance guarantee.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17920" y="2468880"/>
            <a:ext cx="5303520" cy="914400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256032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Line Operators &amp; Quality Staff:
</a:t>
            </a:r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</a:rPr>
              <a:t>Automated alerts, intuitive digital twin visualizer, reduced manual sampling workload.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7920" y="3566160"/>
            <a:ext cx="5303520" cy="914400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365760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MoFPI &amp; Regulatory Bodies (FSSAI):
</a:t>
            </a:r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</a:rPr>
              <a:t>Auditable digital QR passports, alignment with Make in India &amp; FSSAI regulations.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937760"/>
            <a:ext cx="11064240" cy="9144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93776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F46"/>
                </a:solidFill>
              </a:rPr>
              <a:t>OVERALL IMPACT: SAFER FOOD SUPPLY CHAIN • ZERO-RECALL FACTORY OPERATIONS • SUSTAINABLE GREEN FOODTECH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411480"/>
          </a:xfrm>
          <a:prstGeom prst="roundRect">
            <a:avLst/>
          </a:prstGeom>
          <a:solidFill>
            <a:srgbClr val="EEF2FF"/>
          </a:solidFill>
          <a:ln w="25400">
            <a:solidFill>
              <a:srgbClr val="4338C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1B4B"/>
                </a:solidFill>
              </a:rPr>
              <a:t>VEYRAX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103120" y="2286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RESEARCH AND REFERENCES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011680" cy="64008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1B4B"/>
                </a:solidFill>
              </a:rPr>
              <a:t>Monitor Surface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697480" y="1005840"/>
            <a:ext cx="2011680" cy="64008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97480" y="10058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1B4B"/>
                </a:solidFill>
              </a:rPr>
              <a:t>Analyze Data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937760" y="1005840"/>
            <a:ext cx="2011680" cy="64008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0058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1B4B"/>
                </a:solidFill>
              </a:rPr>
              <a:t>Detect Anomaly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178040" y="1005840"/>
            <a:ext cx="2011680" cy="64008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78040" y="10058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1B4B"/>
                </a:solidFill>
              </a:rPr>
              <a:t>Predict Risk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418320" y="1005840"/>
            <a:ext cx="2011680" cy="64008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18320" y="10058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1B4B"/>
                </a:solidFill>
              </a:rPr>
              <a:t>Pneumatic Eject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1920240"/>
            <a:ext cx="11064240" cy="1097280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1920240"/>
            <a:ext cx="11064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PROJECT CODEBASE &amp; INTERACTIVE SCADA DIGITAL TWIN REPOSITORY: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https://github.com/Aravindh-coder/spectraguard-x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291840"/>
            <a:ext cx="5394960" cy="2560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383280"/>
            <a:ext cx="52120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LIVE SCADA DIGITAL TWIN DASHBOARD</a:t>
            </a:r>
            <a:endParaRPr lang="en-US" sz="1000" dirty="0"/>
          </a:p>
          <a:p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• Real-Time Conveyor 2D Canvas Engine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• 8 Multi-Modal Sensing Modalities Telemetry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• Closed-Loop Pneumatic Reject Confirmation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26480" y="3291840"/>
            <a:ext cx="5394960" cy="2560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3383280"/>
            <a:ext cx="52120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AI + PHYSICS SAFETY ENGINE &amp; XAI</a:t>
            </a:r>
            <a:endParaRPr lang="en-US" sz="1000" dirty="0"/>
          </a:p>
          <a:p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• 256-Band NIR Hyperspectral Absorbance Curve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• Open-Set Uncertainty (Mahalanobis Distance)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• Reference White-Tile Auto Self-Calibration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Smart India Hackathon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SIH26233 - Inline Microbial Contamination Detection</dc:title>
  <dc:subject>PptxGenJS Presentation</dc:subject>
  <dc:creator>VEYRAX</dc:creator>
  <cp:lastModifiedBy>VEYRAX</cp:lastModifiedBy>
  <cp:revision>1</cp:revision>
  <dcterms:created xsi:type="dcterms:W3CDTF">2026-09-26T18:17:47Z</dcterms:created>
  <dcterms:modified xsi:type="dcterms:W3CDTF">2026-09-26T18:17:47Z</dcterms:modified>
</cp:coreProperties>
</file>